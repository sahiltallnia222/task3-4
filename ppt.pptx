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8" r:id="rId3"/>
    <p:sldId id="257" r:id="rId4"/>
    <p:sldId id="266" r:id="rId5"/>
    <p:sldId id="259" r:id="rId6"/>
    <p:sldId id="260" r:id="rId7"/>
    <p:sldId id="261" r:id="rId8"/>
    <p:sldId id="262" r:id="rId9"/>
    <p:sldId id="263" r:id="rId10"/>
    <p:sldId id="264" r:id="rId11"/>
    <p:sldId id="267" r:id="rId12"/>
    <p:sldId id="265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Pr>
        <a:solidFill>
          <a:schemeClr val="bg2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261872" y="758952"/>
            <a:ext cx="9418320" cy="4041648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7200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61872" y="4800600"/>
            <a:ext cx="9418320" cy="1691640"/>
          </a:xfrm>
        </p:spPr>
        <p:txBody>
          <a:bodyPr>
            <a:normAutofit/>
          </a:bodyPr>
          <a:lstStyle>
            <a:lvl1pPr marL="0" indent="0" algn="l">
              <a:buNone/>
              <a:defRPr sz="2200" baseline="0">
                <a:solidFill>
                  <a:schemeClr val="tx1">
                    <a:lumMod val="75000"/>
                  </a:schemeClr>
                </a:solidFill>
              </a:defRPr>
            </a:lvl1pPr>
            <a:lvl2pPr marL="457200" indent="0" algn="ctr">
              <a:buNone/>
              <a:defRPr sz="2200"/>
            </a:lvl2pPr>
            <a:lvl3pPr marL="914400" indent="0" algn="ctr">
              <a:buNone/>
              <a:defRPr sz="22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50000"/>
                  </a:schemeClr>
                </a:solidFill>
              </a:defRPr>
            </a:lvl1pPr>
          </a:lstStyle>
          <a:p>
            <a:fld id="{DD78E2F8-E6B3-4D3E-9EE4-A1522D1FB266}" type="datetimeFigureOut">
              <a:rPr lang="en-IN" smtClean="0"/>
              <a:t>30-06-2023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6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65000"/>
                  </a:schemeClr>
                </a:solidFill>
              </a:defRPr>
            </a:lvl1pPr>
          </a:lstStyle>
          <a:p>
            <a:fld id="{B6ADBD21-2A7B-4C5D-A776-AE06A40B7AC2}" type="slidenum">
              <a:rPr lang="en-IN" smtClean="0"/>
              <a:t>‹#›</a:t>
            </a:fld>
            <a:endParaRPr lang="en-IN"/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353436638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78E2F8-E6B3-4D3E-9EE4-A1522D1FB266}" type="datetimeFigureOut">
              <a:rPr lang="en-IN" smtClean="0"/>
              <a:t>30-06-2023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ADBD21-2A7B-4C5D-A776-AE06A40B7AC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8129759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61872" y="758952"/>
            <a:ext cx="9418320" cy="4041648"/>
          </a:xfrm>
        </p:spPr>
        <p:txBody>
          <a:bodyPr anchor="b">
            <a:normAutofit/>
          </a:bodyPr>
          <a:lstStyle>
            <a:lvl1pPr>
              <a:lnSpc>
                <a:spcPct val="85000"/>
              </a:lnSpc>
              <a:defRPr sz="72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61872" y="4800600"/>
            <a:ext cx="9418320" cy="1691640"/>
          </a:xfrm>
        </p:spPr>
        <p:txBody>
          <a:bodyPr anchor="t">
            <a:normAutofit/>
          </a:bodyPr>
          <a:lstStyle>
            <a:lvl1pPr marL="0" indent="0">
              <a:buNone/>
              <a:defRPr sz="22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78E2F8-E6B3-4D3E-9EE4-A1522D1FB266}" type="datetimeFigureOut">
              <a:rPr lang="en-IN" smtClean="0"/>
              <a:t>30-06-2023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ADBD21-2A7B-4C5D-A776-AE06A40B7AC2}" type="slidenum">
              <a:rPr lang="en-IN" smtClean="0"/>
              <a:t>‹#›</a:t>
            </a:fld>
            <a:endParaRPr lang="en-IN"/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354601830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61872" y="1828800"/>
            <a:ext cx="4480560" cy="4351337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26480" y="1828800"/>
            <a:ext cx="4480560" cy="4351337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78E2F8-E6B3-4D3E-9EE4-A1522D1FB266}" type="datetimeFigureOut">
              <a:rPr lang="en-IN" smtClean="0"/>
              <a:t>30-06-2023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ADBD21-2A7B-4C5D-A776-AE06A40B7AC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7043220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61872" y="1713655"/>
            <a:ext cx="4480560" cy="731520"/>
          </a:xfr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None/>
              <a:defRPr sz="2000" b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61872" y="2507550"/>
            <a:ext cx="4480560" cy="366465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26480" y="1713655"/>
            <a:ext cx="4480560" cy="731520"/>
          </a:xfrm>
        </p:spPr>
        <p:txBody>
          <a:bodyPr anchor="b">
            <a:normAutofit/>
          </a:bodyPr>
          <a:lstStyle>
            <a:lvl1pPr marL="0" indent="0">
              <a:lnSpc>
                <a:spcPct val="95000"/>
              </a:lnSpc>
              <a:spcBef>
                <a:spcPts val="0"/>
              </a:spcBef>
              <a:buNone/>
              <a:defRPr lang="en-US" sz="2000" b="0" kern="1200" dirty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2000"/>
              </a:spcBef>
              <a:buFontTx/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26480" y="2507550"/>
            <a:ext cx="4480560" cy="366465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78E2F8-E6B3-4D3E-9EE4-A1522D1FB266}" type="datetimeFigureOut">
              <a:rPr lang="en-IN" smtClean="0"/>
              <a:t>30-06-2023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ADBD21-2A7B-4C5D-A776-AE06A40B7AC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90771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78E2F8-E6B3-4D3E-9EE4-A1522D1FB266}" type="datetimeFigureOut">
              <a:rPr lang="en-IN" smtClean="0"/>
              <a:t>30-06-2023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ADBD21-2A7B-4C5D-A776-AE06A40B7AC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4730053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78E2F8-E6B3-4D3E-9EE4-A1522D1FB266}" type="datetimeFigureOut">
              <a:rPr lang="en-IN" smtClean="0"/>
              <a:t>30-06-2023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ADBD21-2A7B-4C5D-A776-AE06A40B7AC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5362072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1248" y="457200"/>
            <a:ext cx="3200400" cy="1600197"/>
          </a:xfrm>
        </p:spPr>
        <p:txBody>
          <a:bodyPr anchor="b">
            <a:normAutofit/>
          </a:bodyPr>
          <a:lstStyle>
            <a:lvl1pPr>
              <a:defRPr sz="3200" b="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04267" y="685800"/>
            <a:ext cx="6079066" cy="548640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1248" y="2099734"/>
            <a:ext cx="3200400" cy="3810001"/>
          </a:xfrm>
        </p:spPr>
        <p:txBody>
          <a:bodyPr>
            <a:normAutofit/>
          </a:bodyPr>
          <a:lstStyle>
            <a:lvl1pPr marL="0" indent="0">
              <a:lnSpc>
                <a:spcPct val="114000"/>
              </a:lnSpc>
              <a:spcBef>
                <a:spcPts val="800"/>
              </a:spcBef>
              <a:buNone/>
              <a:defRPr sz="13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78E2F8-E6B3-4D3E-9EE4-A1522D1FB266}" type="datetimeFigureOut">
              <a:rPr lang="en-IN" smtClean="0"/>
              <a:t>30-06-2023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ADBD21-2A7B-4C5D-A776-AE06A40B7AC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6760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5105400"/>
            <a:ext cx="11292840" cy="17526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5257800"/>
            <a:ext cx="9982200" cy="914400"/>
          </a:xfrm>
        </p:spPr>
        <p:txBody>
          <a:bodyPr anchor="b">
            <a:normAutofit/>
          </a:bodyPr>
          <a:lstStyle>
            <a:lvl1pPr>
              <a:defRPr sz="2800" b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0"/>
            <a:ext cx="11292840" cy="5128923"/>
          </a:xfrm>
          <a:solidFill>
            <a:schemeClr val="accent1"/>
          </a:solidFill>
        </p:spPr>
        <p:txBody>
          <a:bodyPr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4400" y="6108589"/>
            <a:ext cx="9982200" cy="597011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800"/>
              </a:spcBef>
              <a:buNone/>
              <a:defRPr sz="1300">
                <a:solidFill>
                  <a:schemeClr val="bg1">
                    <a:lumMod val="8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78E2F8-E6B3-4D3E-9EE4-A1522D1FB266}" type="datetimeFigureOut">
              <a:rPr lang="en-IN" smtClean="0"/>
              <a:t>30-06-2023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ADBD21-2A7B-4C5D-A776-AE06A40B7AC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3629695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78E2F8-E6B3-4D3E-9EE4-A1522D1FB266}" type="datetimeFigureOut">
              <a:rPr lang="en-IN" smtClean="0"/>
              <a:t>30-06-2023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ADBD21-2A7B-4C5D-A776-AE06A40B7AC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9431758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48700" y="381000"/>
            <a:ext cx="2476500" cy="5897562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62000" y="381000"/>
            <a:ext cx="7734300" cy="5897562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78E2F8-E6B3-4D3E-9EE4-A1522D1FB266}" type="datetimeFigureOut">
              <a:rPr lang="en-IN" smtClean="0"/>
              <a:t>30-06-2023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ADBD21-2A7B-4C5D-A776-AE06A40B7AC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68051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1292840" y="0"/>
            <a:ext cx="914400" cy="6858000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61872" y="365760"/>
            <a:ext cx="9692640" cy="1325562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61872" y="1828800"/>
            <a:ext cx="8595360" cy="435133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16200000">
            <a:off x="10797542" y="998537"/>
            <a:ext cx="1904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 b="0">
                <a:solidFill>
                  <a:schemeClr val="tx2">
                    <a:lumMod val="20000"/>
                    <a:lumOff val="80000"/>
                  </a:schemeClr>
                </a:solidFill>
              </a:defRPr>
            </a:lvl1pPr>
          </a:lstStyle>
          <a:p>
            <a:fld id="{DD78E2F8-E6B3-4D3E-9EE4-A1522D1FB266}" type="datetimeFigureOut">
              <a:rPr lang="en-IN" smtClean="0"/>
              <a:t>30-06-2023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16200000">
            <a:off x="9959341" y="4046537"/>
            <a:ext cx="3581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2">
                    <a:lumMod val="20000"/>
                    <a:lumOff val="80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292840" y="6172200"/>
            <a:ext cx="914400" cy="593725"/>
          </a:xfrm>
          <a:prstGeom prst="rect">
            <a:avLst/>
          </a:prstGeom>
        </p:spPr>
        <p:txBody>
          <a:bodyPr vert="horz" lIns="45720" tIns="45720" rIns="45720" bIns="45720" rtlCol="0" anchor="ctr">
            <a:normAutofit/>
          </a:bodyPr>
          <a:lstStyle>
            <a:lvl1pPr algn="ctr">
              <a:defRPr sz="3600">
                <a:solidFill>
                  <a:schemeClr val="tx2">
                    <a:lumMod val="60000"/>
                    <a:lumOff val="40000"/>
                  </a:schemeClr>
                </a:solidFill>
              </a:defRPr>
            </a:lvl1pPr>
          </a:lstStyle>
          <a:p>
            <a:fld id="{B6ADBD21-2A7B-4C5D-A776-AE06A40B7AC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247065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 spc="-5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lnSpc>
          <a:spcPct val="95000"/>
        </a:lnSpc>
        <a:spcBef>
          <a:spcPts val="1400"/>
        </a:spcBef>
        <a:spcAft>
          <a:spcPts val="200"/>
        </a:spcAft>
        <a:buClr>
          <a:schemeClr val="accent1"/>
        </a:buClr>
        <a:buSzPct val="80000"/>
        <a:buFont typeface="Arial" pitchFamily="34" charset="0"/>
        <a:buChar char="•"/>
        <a:defRPr sz="1800" kern="1200" spc="10" baseline="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280160" indent="-18288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1600000" indent="-22860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6pPr>
      <a:lvl7pPr marL="1900000" indent="-22860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7pPr>
      <a:lvl8pPr marL="2200000" indent="-22860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8pPr>
      <a:lvl9pPr marL="2500000" indent="-22860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https://previewer.adalo.com/b4b1ef3b-232c-44bf-8aa6-d0af920fbcce?_gl=1%2Apx60fw%2A_ga%2AMjEwMDM3MjU2OS4xNjg3OTQxMTYz%2A_ga_SWT45DV35L%2AMTY4ODEwMzM4OC43LjAuMTY4ODEwMzM4OC42MC4wLjA.&amp;target=998942e43ce445e7a8ed43cc51862f42&amp;params=%7B%7D" TargetMode="External"/><Relationship Id="rId2" Type="http://schemas.openxmlformats.org/officeDocument/2006/relationships/hyperlink" Target="https://app.adalo.com/apps/b4b1ef3b-232c-44bf-8aa6-d0af920fbcce/screens" TargetMode="Externa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https://react.dev/learn" TargetMode="External"/><Relationship Id="rId2" Type="http://schemas.openxmlformats.org/officeDocument/2006/relationships/hyperlink" Target="https://blog.webdevsimplified.com/2022-07/react-router/" TargetMode="External"/><Relationship Id="rId1" Type="http://schemas.openxmlformats.org/officeDocument/2006/relationships/slideLayout" Target="../slideLayouts/slideLayout1.xml"/><Relationship Id="rId6" Type="http://schemas.openxmlformats.org/officeDocument/2006/relationships/hyperlink" Target="https://help.adalo.com/component-basics/marketplace-components/how-to-insert-bar-charts-and-line-graphs" TargetMode="External"/><Relationship Id="rId5" Type="http://schemas.openxmlformats.org/officeDocument/2006/relationships/hyperlink" Target="https://www.alphavantage.co/documentation/" TargetMode="External"/><Relationship Id="rId4" Type="http://schemas.openxmlformats.org/officeDocument/2006/relationships/hyperlink" Target="https://newsapi.org/docs" TargetMode="Externa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45265299-8298-CC45-29E4-0638104E7309}"/>
              </a:ext>
            </a:extLst>
          </p:cNvPr>
          <p:cNvSpPr txBox="1"/>
          <p:nvPr/>
        </p:nvSpPr>
        <p:spPr>
          <a:xfrm>
            <a:off x="2877586" y="2408903"/>
            <a:ext cx="664201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0" i="0" dirty="0">
                <a:effectLst/>
                <a:latin typeface="Arial" panose="020B0604020202020204" pitchFamily="34" charset="0"/>
              </a:rPr>
              <a:t>(Getting Started and Full Walkthrough of Adalo)</a:t>
            </a:r>
            <a:endParaRPr lang="en-IN" sz="24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B0D28F0-E55E-7A29-3C76-217733B16E81}"/>
              </a:ext>
            </a:extLst>
          </p:cNvPr>
          <p:cNvSpPr txBox="1"/>
          <p:nvPr/>
        </p:nvSpPr>
        <p:spPr>
          <a:xfrm>
            <a:off x="971039" y="1140542"/>
            <a:ext cx="10249922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b="0" i="0" dirty="0">
                <a:effectLst/>
                <a:latin typeface="+mj-lt"/>
              </a:rPr>
              <a:t>Real-Time Stock Market Data Web Application</a:t>
            </a:r>
          </a:p>
          <a:p>
            <a:endParaRPr lang="en-IN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5E19C06-13F2-5149-10CC-4855D3C1A7C3}"/>
              </a:ext>
            </a:extLst>
          </p:cNvPr>
          <p:cNvSpPr txBox="1"/>
          <p:nvPr/>
        </p:nvSpPr>
        <p:spPr>
          <a:xfrm>
            <a:off x="5456903" y="4204194"/>
            <a:ext cx="6096000" cy="22361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IN" sz="2400" dirty="0"/>
              <a:t>SAHIL</a:t>
            </a:r>
          </a:p>
          <a:p>
            <a:pPr>
              <a:lnSpc>
                <a:spcPct val="150000"/>
              </a:lnSpc>
            </a:pPr>
            <a:r>
              <a:rPr lang="en-IN" sz="2400" dirty="0"/>
              <a:t>16 May 2023 Batch</a:t>
            </a:r>
          </a:p>
          <a:p>
            <a:pPr>
              <a:lnSpc>
                <a:spcPct val="150000"/>
              </a:lnSpc>
            </a:pPr>
            <a:r>
              <a:rPr lang="en-IN" sz="2400" dirty="0"/>
              <a:t>Web developer group</a:t>
            </a:r>
          </a:p>
          <a:p>
            <a:pPr>
              <a:lnSpc>
                <a:spcPct val="150000"/>
              </a:lnSpc>
            </a:pPr>
            <a:r>
              <a:rPr lang="en-IN" sz="2400" dirty="0"/>
              <a:t>Indian Institute of Technology (Ropar)</a:t>
            </a:r>
          </a:p>
        </p:txBody>
      </p:sp>
    </p:spTree>
    <p:extLst>
      <p:ext uri="{BB962C8B-B14F-4D97-AF65-F5344CB8AC3E}">
        <p14:creationId xmlns:p14="http://schemas.microsoft.com/office/powerpoint/2010/main" val="137876623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368D13B-9E75-A1A7-58FB-11F65B2A0960}"/>
              </a:ext>
            </a:extLst>
          </p:cNvPr>
          <p:cNvSpPr txBox="1"/>
          <p:nvPr/>
        </p:nvSpPr>
        <p:spPr>
          <a:xfrm>
            <a:off x="5220929" y="521110"/>
            <a:ext cx="126348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/>
              <a:t>Index</a:t>
            </a:r>
            <a:endParaRPr lang="en-IN" sz="32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8F7AA51-EA12-B7ED-CB4D-0C46E88C0A83}"/>
              </a:ext>
            </a:extLst>
          </p:cNvPr>
          <p:cNvSpPr txBox="1"/>
          <p:nvPr/>
        </p:nvSpPr>
        <p:spPr>
          <a:xfrm>
            <a:off x="2349910" y="1563329"/>
            <a:ext cx="2483372" cy="424731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Task Instructions</a:t>
            </a:r>
          </a:p>
          <a:p>
            <a:endParaRPr lang="en-US" dirty="0"/>
          </a:p>
          <a:p>
            <a:r>
              <a:rPr lang="en-US" dirty="0"/>
              <a:t>Introduction </a:t>
            </a:r>
          </a:p>
          <a:p>
            <a:endParaRPr lang="en-US" dirty="0"/>
          </a:p>
          <a:p>
            <a:r>
              <a:rPr lang="en-US" dirty="0"/>
              <a:t>Tools and Technology</a:t>
            </a:r>
          </a:p>
          <a:p>
            <a:endParaRPr lang="en-US" dirty="0"/>
          </a:p>
          <a:p>
            <a:r>
              <a:rPr lang="en-US" dirty="0"/>
              <a:t>Line Chart</a:t>
            </a:r>
          </a:p>
          <a:p>
            <a:endParaRPr lang="en-US" dirty="0"/>
          </a:p>
          <a:p>
            <a:r>
              <a:rPr lang="en-US" dirty="0"/>
              <a:t>Design</a:t>
            </a:r>
          </a:p>
          <a:p>
            <a:endParaRPr lang="en-US" dirty="0"/>
          </a:p>
          <a:p>
            <a:r>
              <a:rPr lang="en-IN" dirty="0"/>
              <a:t>Demo</a:t>
            </a:r>
          </a:p>
          <a:p>
            <a:endParaRPr lang="en-IN" dirty="0"/>
          </a:p>
          <a:p>
            <a:r>
              <a:rPr lang="en-IN" dirty="0"/>
              <a:t>References</a:t>
            </a:r>
          </a:p>
          <a:p>
            <a:endParaRPr lang="en-IN" dirty="0"/>
          </a:p>
          <a:p>
            <a:r>
              <a:rPr lang="en-IN" dirty="0"/>
              <a:t>The end</a:t>
            </a:r>
          </a:p>
        </p:txBody>
      </p:sp>
    </p:spTree>
    <p:extLst>
      <p:ext uri="{BB962C8B-B14F-4D97-AF65-F5344CB8AC3E}">
        <p14:creationId xmlns:p14="http://schemas.microsoft.com/office/powerpoint/2010/main" val="27152942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1B7C0D5-8B19-4505-1363-19C321EF64A2}"/>
              </a:ext>
            </a:extLst>
          </p:cNvPr>
          <p:cNvSpPr txBox="1"/>
          <p:nvPr/>
        </p:nvSpPr>
        <p:spPr>
          <a:xfrm>
            <a:off x="4680154" y="540774"/>
            <a:ext cx="250421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/>
              <a:t>Instructions</a:t>
            </a:r>
            <a:endParaRPr lang="en-IN" sz="32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45318E6-CBF4-F6A2-A9F6-2458FC0C0C49}"/>
              </a:ext>
            </a:extLst>
          </p:cNvPr>
          <p:cNvSpPr txBox="1"/>
          <p:nvPr/>
        </p:nvSpPr>
        <p:spPr>
          <a:xfrm>
            <a:off x="1838632" y="1966452"/>
            <a:ext cx="45384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Explore different functionalities of Adalo</a:t>
            </a:r>
            <a:endParaRPr lang="en-IN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7BBA74A-B717-7F43-D694-01FD11EAF349}"/>
              </a:ext>
            </a:extLst>
          </p:cNvPr>
          <p:cNvSpPr txBox="1"/>
          <p:nvPr/>
        </p:nvSpPr>
        <p:spPr>
          <a:xfrm>
            <a:off x="1838632" y="2566219"/>
            <a:ext cx="47067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Create a multiple-page responsive website</a:t>
            </a:r>
            <a:endParaRPr lang="en-IN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C9125E1-DE25-6836-FB0F-901DA65C9337}"/>
              </a:ext>
            </a:extLst>
          </p:cNvPr>
          <p:cNvSpPr txBox="1"/>
          <p:nvPr/>
        </p:nvSpPr>
        <p:spPr>
          <a:xfrm>
            <a:off x="1838632" y="3176687"/>
            <a:ext cx="4341253" cy="286232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Functionalities of website –</a:t>
            </a:r>
          </a:p>
          <a:p>
            <a:r>
              <a:rPr lang="en-US" dirty="0"/>
              <a:t>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	Navbar</a:t>
            </a:r>
          </a:p>
          <a:p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	Button</a:t>
            </a:r>
          </a:p>
          <a:p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	List</a:t>
            </a:r>
          </a:p>
          <a:p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	Form submission and data storage</a:t>
            </a:r>
          </a:p>
          <a:p>
            <a:r>
              <a:rPr lang="en-US" dirty="0"/>
              <a:t>	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59648957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059C8AB-43A6-B0FD-248C-6A390605C04D}"/>
              </a:ext>
            </a:extLst>
          </p:cNvPr>
          <p:cNvSpPr txBox="1"/>
          <p:nvPr/>
        </p:nvSpPr>
        <p:spPr>
          <a:xfrm>
            <a:off x="4665961" y="373626"/>
            <a:ext cx="286007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3600" dirty="0"/>
              <a:t>Introduction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2BA343B-3FB1-BDA0-1A9E-901C0398C65A}"/>
              </a:ext>
            </a:extLst>
          </p:cNvPr>
          <p:cNvSpPr txBox="1"/>
          <p:nvPr/>
        </p:nvSpPr>
        <p:spPr>
          <a:xfrm>
            <a:off x="1148735" y="1209368"/>
            <a:ext cx="9894529" cy="51908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0" i="0" dirty="0">
                <a:effectLst/>
              </a:rPr>
              <a:t>Real-Time Stock Market Data Web Application that provides real times </a:t>
            </a:r>
            <a:r>
              <a:rPr lang="en-US" sz="2400" dirty="0"/>
              <a:t>data about the stocks of any company. </a:t>
            </a:r>
          </a:p>
          <a:p>
            <a:endParaRPr lang="en-US" sz="2400" dirty="0"/>
          </a:p>
          <a:p>
            <a:r>
              <a:rPr lang="en-IN" sz="2400" dirty="0"/>
              <a:t>On this platform, users can find the following details about stocks – </a:t>
            </a:r>
          </a:p>
          <a:p>
            <a:endParaRPr lang="en-IN" sz="2400" dirty="0"/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/>
              <a:t>Opening and closing price of stocks 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/>
              <a:t>The lowest and highest price of stocks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/>
              <a:t>Volume of stocks 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/>
              <a:t>Dividend amount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IN" sz="2400" dirty="0"/>
          </a:p>
          <a:p>
            <a:pPr>
              <a:lnSpc>
                <a:spcPct val="150000"/>
              </a:lnSpc>
            </a:pPr>
            <a:r>
              <a:rPr lang="en-IN" sz="2400" dirty="0"/>
              <a:t>This platform provides all this information with graph visualization.</a:t>
            </a:r>
          </a:p>
        </p:txBody>
      </p:sp>
    </p:spTree>
    <p:extLst>
      <p:ext uri="{BB962C8B-B14F-4D97-AF65-F5344CB8AC3E}">
        <p14:creationId xmlns:p14="http://schemas.microsoft.com/office/powerpoint/2010/main" val="175213818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6F7A8F3-A8F7-4763-3CB6-4F789879D0B2}"/>
              </a:ext>
            </a:extLst>
          </p:cNvPr>
          <p:cNvSpPr txBox="1"/>
          <p:nvPr/>
        </p:nvSpPr>
        <p:spPr>
          <a:xfrm>
            <a:off x="3958235" y="383458"/>
            <a:ext cx="427552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/>
              <a:t>Tools and Technology</a:t>
            </a:r>
            <a:endParaRPr lang="en-IN" sz="32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1F7ED7B-E1A3-4322-87D1-2DA5B0545567}"/>
              </a:ext>
            </a:extLst>
          </p:cNvPr>
          <p:cNvSpPr txBox="1"/>
          <p:nvPr/>
        </p:nvSpPr>
        <p:spPr>
          <a:xfrm>
            <a:off x="1120876" y="2133599"/>
            <a:ext cx="10323872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Adalo   - Adalo is a no-code platform to create responsive websites and apps with easy drag-and-drop functionality.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React.js – frontend library.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Chart.js – Data visualization using the line chart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Vantage API – to get stock data.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News API – to get stocks related news.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Hosting – Vercel</a:t>
            </a:r>
          </a:p>
        </p:txBody>
      </p:sp>
    </p:spTree>
    <p:extLst>
      <p:ext uri="{BB962C8B-B14F-4D97-AF65-F5344CB8AC3E}">
        <p14:creationId xmlns:p14="http://schemas.microsoft.com/office/powerpoint/2010/main" val="289983419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9D2B459-4E63-363E-7370-7A8E7123892F}"/>
              </a:ext>
            </a:extLst>
          </p:cNvPr>
          <p:cNvSpPr txBox="1"/>
          <p:nvPr/>
        </p:nvSpPr>
        <p:spPr>
          <a:xfrm>
            <a:off x="558985" y="203528"/>
            <a:ext cx="1120531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/>
              <a:t>Line Chart of Opening and Closing price of IBM Company</a:t>
            </a:r>
            <a:endParaRPr lang="en-IN" sz="32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184A154-3ACD-6B1B-9382-55D36945A78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1543" y="1306706"/>
            <a:ext cx="11336594" cy="51380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1705401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8F433AE0-9BED-FA34-1877-A243D03A9F3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4502" y="1270000"/>
            <a:ext cx="11253018" cy="5336622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1E49C134-4468-B59D-9678-6B97D2B0185F}"/>
              </a:ext>
            </a:extLst>
          </p:cNvPr>
          <p:cNvSpPr txBox="1"/>
          <p:nvPr/>
        </p:nvSpPr>
        <p:spPr>
          <a:xfrm>
            <a:off x="5374640" y="284480"/>
            <a:ext cx="150073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/>
              <a:t>Design</a:t>
            </a:r>
            <a:endParaRPr lang="en-IN" sz="3200" dirty="0"/>
          </a:p>
        </p:txBody>
      </p:sp>
    </p:spTree>
    <p:extLst>
      <p:ext uri="{BB962C8B-B14F-4D97-AF65-F5344CB8AC3E}">
        <p14:creationId xmlns:p14="http://schemas.microsoft.com/office/powerpoint/2010/main" val="173751380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DBEA0B0-1F1F-74E9-DAB3-BFAE6FC674F2}"/>
              </a:ext>
            </a:extLst>
          </p:cNvPr>
          <p:cNvSpPr txBox="1"/>
          <p:nvPr/>
        </p:nvSpPr>
        <p:spPr>
          <a:xfrm>
            <a:off x="668594" y="438191"/>
            <a:ext cx="121219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/>
              <a:t>Form</a:t>
            </a:r>
            <a:endParaRPr lang="en-IN" sz="32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09260D1-40AA-89EB-9E57-ACF1A076FC6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8594" y="1511300"/>
            <a:ext cx="11012129" cy="50763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728382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74F33DF-1BD9-8501-BC7F-EB7BB71A7811}"/>
              </a:ext>
            </a:extLst>
          </p:cNvPr>
          <p:cNvSpPr txBox="1"/>
          <p:nvPr/>
        </p:nvSpPr>
        <p:spPr>
          <a:xfrm>
            <a:off x="4977745" y="481781"/>
            <a:ext cx="2236510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6000" dirty="0"/>
              <a:t>Demo</a:t>
            </a:r>
            <a:endParaRPr lang="en-IN" sz="60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27EDB95-B732-2797-9E66-DBFED42245E8}"/>
              </a:ext>
            </a:extLst>
          </p:cNvPr>
          <p:cNvSpPr txBox="1"/>
          <p:nvPr/>
        </p:nvSpPr>
        <p:spPr>
          <a:xfrm>
            <a:off x="5313574" y="2875002"/>
            <a:ext cx="156485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hlinkClick r:id="rId2"/>
              </a:rPr>
              <a:t>Project Link </a:t>
            </a:r>
            <a:endParaRPr lang="en-IN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1CCB490-88C5-97C0-55A2-EBE14CAB6534}"/>
              </a:ext>
            </a:extLst>
          </p:cNvPr>
          <p:cNvSpPr txBox="1"/>
          <p:nvPr/>
        </p:nvSpPr>
        <p:spPr>
          <a:xfrm>
            <a:off x="5353650" y="3642853"/>
            <a:ext cx="152477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hlinkClick r:id="rId3"/>
              </a:rPr>
              <a:t>Website link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49897977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72E69CC-A2C7-E5BB-C51A-F5F49933AC03}"/>
              </a:ext>
            </a:extLst>
          </p:cNvPr>
          <p:cNvSpPr txBox="1"/>
          <p:nvPr/>
        </p:nvSpPr>
        <p:spPr>
          <a:xfrm>
            <a:off x="4973737" y="432619"/>
            <a:ext cx="224452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/>
              <a:t>References</a:t>
            </a:r>
            <a:endParaRPr lang="en-IN" sz="32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57BD77E-6745-4C27-06BB-81AD3C02E9B9}"/>
              </a:ext>
            </a:extLst>
          </p:cNvPr>
          <p:cNvSpPr txBox="1"/>
          <p:nvPr/>
        </p:nvSpPr>
        <p:spPr>
          <a:xfrm>
            <a:off x="475331" y="1632156"/>
            <a:ext cx="11716669" cy="286232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>
                <a:hlinkClick r:id="rId2"/>
              </a:rPr>
              <a:t>https://blog.webdevsimplified.com/2022-07/react-router/</a:t>
            </a:r>
            <a:r>
              <a:rPr lang="en-IN" dirty="0"/>
              <a:t>    (to learn about React Router DOM)</a:t>
            </a:r>
          </a:p>
          <a:p>
            <a:endParaRPr lang="en-IN" dirty="0"/>
          </a:p>
          <a:p>
            <a:r>
              <a:rPr lang="en-IN" dirty="0">
                <a:hlinkClick r:id="rId3"/>
              </a:rPr>
              <a:t>https://react.dev/learn</a:t>
            </a:r>
            <a:r>
              <a:rPr lang="en-IN" dirty="0"/>
              <a:t> (React.js)</a:t>
            </a:r>
          </a:p>
          <a:p>
            <a:endParaRPr lang="en-IN" dirty="0"/>
          </a:p>
          <a:p>
            <a:r>
              <a:rPr lang="en-IN" dirty="0">
                <a:hlinkClick r:id="rId4"/>
              </a:rPr>
              <a:t>https://newsapi.org/docs</a:t>
            </a:r>
            <a:r>
              <a:rPr lang="en-IN" dirty="0"/>
              <a:t> (News API)</a:t>
            </a:r>
          </a:p>
          <a:p>
            <a:endParaRPr lang="en-IN" dirty="0"/>
          </a:p>
          <a:p>
            <a:r>
              <a:rPr lang="en-IN" dirty="0">
                <a:hlinkClick r:id="rId5"/>
              </a:rPr>
              <a:t>https://www.alphavantage.co/documentation/</a:t>
            </a:r>
            <a:r>
              <a:rPr lang="en-IN" dirty="0"/>
              <a:t>   (Alpha Vantage API)</a:t>
            </a:r>
          </a:p>
          <a:p>
            <a:endParaRPr lang="en-IN" dirty="0"/>
          </a:p>
          <a:p>
            <a:r>
              <a:rPr lang="en-IN" dirty="0">
                <a:hlinkClick r:id="rId6"/>
              </a:rPr>
              <a:t>https://help.adalo.com/component-basics/marketplace-components/how-to-insert-bar-charts-and-line-graphs</a:t>
            </a:r>
            <a:r>
              <a:rPr lang="en-IN" dirty="0"/>
              <a:t> </a:t>
            </a:r>
          </a:p>
          <a:p>
            <a:r>
              <a:rPr lang="en-IN" dirty="0"/>
              <a:t>(Adalo resources)</a:t>
            </a:r>
          </a:p>
        </p:txBody>
      </p:sp>
    </p:spTree>
    <p:extLst>
      <p:ext uri="{BB962C8B-B14F-4D97-AF65-F5344CB8AC3E}">
        <p14:creationId xmlns:p14="http://schemas.microsoft.com/office/powerpoint/2010/main" val="47656910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4DA83DB-6D6F-B0F0-1BC1-A97AE2B46B34}"/>
              </a:ext>
            </a:extLst>
          </p:cNvPr>
          <p:cNvSpPr txBox="1"/>
          <p:nvPr/>
        </p:nvSpPr>
        <p:spPr>
          <a:xfrm>
            <a:off x="3712976" y="2228671"/>
            <a:ext cx="4766048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7200" dirty="0"/>
              <a:t>Thank you</a:t>
            </a:r>
            <a:endParaRPr lang="en-IN" sz="72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B02AB5B-6FCE-CFA0-E86D-AB50FCC35518}"/>
              </a:ext>
            </a:extLst>
          </p:cNvPr>
          <p:cNvSpPr txBox="1"/>
          <p:nvPr/>
        </p:nvSpPr>
        <p:spPr>
          <a:xfrm>
            <a:off x="4615466" y="6204155"/>
            <a:ext cx="296106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2020mcb1248@iitrpr.ac.in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62199825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4DA83DB-6D6F-B0F0-1BC1-A97AE2B46B34}"/>
              </a:ext>
            </a:extLst>
          </p:cNvPr>
          <p:cNvSpPr txBox="1"/>
          <p:nvPr/>
        </p:nvSpPr>
        <p:spPr>
          <a:xfrm>
            <a:off x="4935265" y="2828835"/>
            <a:ext cx="2321469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7200" dirty="0"/>
              <a:t>Q&amp;A</a:t>
            </a:r>
            <a:endParaRPr lang="en-IN" sz="7200" dirty="0"/>
          </a:p>
        </p:txBody>
      </p:sp>
    </p:spTree>
    <p:extLst>
      <p:ext uri="{BB962C8B-B14F-4D97-AF65-F5344CB8AC3E}">
        <p14:creationId xmlns:p14="http://schemas.microsoft.com/office/powerpoint/2010/main" val="2031769087"/>
      </p:ext>
    </p:extLst>
  </p:cSld>
  <p:clrMapOvr>
    <a:masterClrMapping/>
  </p:clrMapOvr>
</p:sld>
</file>

<file path=ppt/theme/theme1.xml><?xml version="1.0" encoding="utf-8"?>
<a:theme xmlns:a="http://schemas.openxmlformats.org/drawingml/2006/main" name="View">
  <a:themeElements>
    <a:clrScheme name="View">
      <a:dk1>
        <a:srgbClr val="000000"/>
      </a:dk1>
      <a:lt1>
        <a:srgbClr val="FFFFFF"/>
      </a:lt1>
      <a:dk2>
        <a:srgbClr val="46464A"/>
      </a:dk2>
      <a:lt2>
        <a:srgbClr val="D6D3CC"/>
      </a:lt2>
      <a:accent1>
        <a:srgbClr val="6F6F74"/>
      </a:accent1>
      <a:accent2>
        <a:srgbClr val="92A9B9"/>
      </a:accent2>
      <a:accent3>
        <a:srgbClr val="A7B789"/>
      </a:accent3>
      <a:accent4>
        <a:srgbClr val="B9A489"/>
      </a:accent4>
      <a:accent5>
        <a:srgbClr val="8D6374"/>
      </a:accent5>
      <a:accent6>
        <a:srgbClr val="9B7362"/>
      </a:accent6>
      <a:hlink>
        <a:srgbClr val="67AABF"/>
      </a:hlink>
      <a:folHlink>
        <a:srgbClr val="ABAFA5"/>
      </a:folHlink>
    </a:clrScheme>
    <a:fontScheme name="View">
      <a:majorFont>
        <a:latin typeface="Century Schoolbook" panose="020406040505050203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Schoolbook" panose="020406040505050203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View">
      <a:fillStyleLst>
        <a:solidFill>
          <a:schemeClr val="phClr"/>
        </a:solidFill>
        <a:solidFill>
          <a:schemeClr val="phClr">
            <a:tint val="60000"/>
            <a:satMod val="120000"/>
          </a:schemeClr>
        </a:solidFill>
        <a:solidFill>
          <a:schemeClr val="phClr">
            <a:shade val="75000"/>
            <a:satMod val="16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3970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95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15240" dir="5400000" algn="tl" rotWithShape="0">
              <a:srgbClr val="000000">
                <a:alpha val="7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contourW="9525" prstMaterial="flat">
            <a:bevelT w="0" h="0" prst="coolSlant"/>
            <a:contourClr>
              <a:schemeClr val="phClr">
                <a:shade val="35000"/>
                <a:satMod val="130000"/>
              </a:schemeClr>
            </a:contourClr>
          </a:sp3d>
        </a:effectStyle>
        <a:effectStyle>
          <a:effectLst>
            <a:outerShdw blurRad="76200" dist="25400" dir="5400000" algn="tl" rotWithShape="0">
              <a:srgbClr val="000000">
                <a:alpha val="5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contourW="19050" prstMaterial="flat">
            <a:bevelT w="0" h="0" prst="coolSlant"/>
            <a:contourClr>
              <a:schemeClr val="phClr">
                <a:shade val="25000"/>
                <a:satMod val="14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4000"/>
                <a:shade val="98000"/>
                <a:satMod val="130000"/>
                <a:lumMod val="102000"/>
              </a:schemeClr>
            </a:gs>
            <a:gs pos="100000">
              <a:schemeClr val="phClr">
                <a:tint val="98000"/>
                <a:shade val="78000"/>
                <a:satMod val="140000"/>
              </a:schemeClr>
            </a:gs>
          </a:gsLst>
          <a:path path="circle">
            <a:fillToRect l="100000" t="10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View" id="{BA0EB5A6-F2D4-4F82-977B-64ADEE4A2A69}" vid="{3969A8A2-35DB-4E3B-8885-16FD2056867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View</Template>
  <TotalTime>115</TotalTime>
  <Words>296</Words>
  <Application>Microsoft Office PowerPoint</Application>
  <PresentationFormat>Widescreen</PresentationFormat>
  <Paragraphs>78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Arial</vt:lpstr>
      <vt:lpstr>Century Schoolbook</vt:lpstr>
      <vt:lpstr>Wingdings 2</vt:lpstr>
      <vt:lpstr>View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sahil tallnia</dc:creator>
  <cp:lastModifiedBy>sahil tallnia</cp:lastModifiedBy>
  <cp:revision>1</cp:revision>
  <dcterms:created xsi:type="dcterms:W3CDTF">2023-06-30T05:42:36Z</dcterms:created>
  <dcterms:modified xsi:type="dcterms:W3CDTF">2023-06-30T07:37:52Z</dcterms:modified>
</cp:coreProperties>
</file>